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43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0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6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1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6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976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7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4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6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890DB26-6657-41AC-BC42-393CDC925F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B4CED7-5912-4D59-8D0E-E74F4D57F19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13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1998616"/>
            <a:ext cx="10058400" cy="15949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Gas Leakage Detection </a:t>
            </a:r>
            <a:br>
              <a:rPr lang="en-US" dirty="0" smtClean="0"/>
            </a:br>
            <a:r>
              <a:rPr lang="en-US" dirty="0" smtClean="0"/>
              <a:t>               System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599312"/>
            <a:ext cx="10058400" cy="1143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   </a:t>
            </a:r>
            <a:r>
              <a:rPr lang="en-US" dirty="0" smtClean="0"/>
              <a:t>                                                                            Ayesha </a:t>
            </a:r>
            <a:r>
              <a:rPr lang="en-US" dirty="0" err="1"/>
              <a:t>Iftikhar</a:t>
            </a:r>
            <a:r>
              <a:rPr lang="en-US" dirty="0"/>
              <a:t> 23-NTU-CS-1021</a:t>
            </a:r>
          </a:p>
          <a:p>
            <a:r>
              <a:rPr lang="en-US" dirty="0"/>
              <a:t>                                                                           </a:t>
            </a:r>
            <a:r>
              <a:rPr lang="en-US" dirty="0" smtClean="0"/>
              <a:t>  </a:t>
            </a:r>
            <a:r>
              <a:rPr lang="en-US" dirty="0"/>
              <a:t>  Ayesha              23-NTU-CS-1020</a:t>
            </a:r>
          </a:p>
          <a:p>
            <a:r>
              <a:rPr lang="en-US" dirty="0"/>
              <a:t>                                                                               Hajra Ahmad   23-NTU-CS-1034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555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548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Project </a:t>
            </a:r>
            <a:r>
              <a:rPr lang="en-US" b="1" dirty="0" smtClean="0"/>
              <a:t>Overview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/>
              <a:t>Project Overview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/>
              <a:t>The system detects gas leaks using </a:t>
            </a:r>
            <a:r>
              <a:rPr lang="en-US" dirty="0" err="1"/>
              <a:t>IoT</a:t>
            </a:r>
            <a:r>
              <a:rPr lang="en-US" dirty="0"/>
              <a:t> technology to enhance safety with timely alerts locally and remotely.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 smtClean="0"/>
              <a:t>Presentation </a:t>
            </a:r>
            <a:r>
              <a:rPr lang="en-US" sz="1800" b="1" dirty="0"/>
              <a:t>Objectives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/>
              <a:t>The presentation covers the system's objectives, working principles, and future development possibilities</a:t>
            </a:r>
            <a:r>
              <a:rPr lang="en-US" dirty="0" smtClean="0"/>
              <a:t>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b="1" dirty="0"/>
              <a:t>Team Composition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 smtClean="0"/>
              <a:t>We developed this project with mutual cooperation.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0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>
                <a:solidFill>
                  <a:schemeClr val="tx1"/>
                </a:solidFill>
                <a:latin typeface="Univers Condensed"/>
              </a:rPr>
              <a:t>Introduction to Gas Leakage Detection</a:t>
            </a:r>
            <a:endParaRPr lang="en-US" dirty="0">
              <a:solidFill>
                <a:schemeClr val="tx1"/>
              </a:solidFill>
              <a:latin typeface="Univers Condense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/>
              <a:t>Safety Hazards of Gas Leaks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/>
              <a:t>Gas leaks can cause explosions, fires, and serious health risks in various environments.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/>
              <a:t>Detection System Components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/>
              <a:t>The system uses an MQ-2 sensor and ESP32 microcontroller for real-time gas leak detection.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/>
              <a:t>Alert and Notification Features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/>
              <a:t>Alerts via buzzer, exhaust fan activation, OLED display, and mobile app notifications ensure timely response.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124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/>
              <a:t>Gas Leak Detection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600" dirty="0"/>
              <a:t>Utilizes MQ-2 sensor to accurately detect the presence of harmful gas leaks in the environment.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/>
              <a:t>Real-Time Monitoring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600" dirty="0"/>
              <a:t>Displays gas concentration levels on an OLED screen for immediate and clear monitoring by users.</a:t>
            </a:r>
          </a:p>
          <a:p>
            <a:pPr marL="0" lvl="0" indent="0">
              <a:lnSpc>
                <a:spcPct val="110000"/>
              </a:lnSpc>
              <a:spcBef>
                <a:spcPts val="2500"/>
              </a:spcBef>
              <a:spcAft>
                <a:spcPts val="0"/>
              </a:spcAft>
              <a:buClrTx/>
              <a:buSzTx/>
              <a:buNone/>
            </a:pPr>
            <a:r>
              <a:rPr lang="en-US" sz="1600" b="1" dirty="0">
                <a:solidFill>
                  <a:srgbClr val="000000"/>
                </a:solidFill>
                <a:latin typeface="Calisto MT" panose="02040603050505030304"/>
              </a:rPr>
              <a:t>Automatic Safety Response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  <a:latin typeface="Calisto MT" panose="02040603050505030304"/>
              </a:rPr>
              <a:t>Activates exhaust fan and buzzer automatically when gas levels exceed the safe threshold to ensure safety.</a:t>
            </a:r>
          </a:p>
          <a:p>
            <a:pPr marL="0" lvl="0" indent="0">
              <a:lnSpc>
                <a:spcPct val="110000"/>
              </a:lnSpc>
              <a:spcBef>
                <a:spcPts val="2500"/>
              </a:spcBef>
              <a:spcAft>
                <a:spcPts val="0"/>
              </a:spcAft>
              <a:buClrTx/>
              <a:buSzTx/>
              <a:buNone/>
            </a:pPr>
            <a:r>
              <a:rPr lang="en-US" sz="1600" b="1" dirty="0">
                <a:solidFill>
                  <a:srgbClr val="000000"/>
                </a:solidFill>
                <a:latin typeface="Calisto MT" panose="02040603050505030304"/>
              </a:rPr>
              <a:t>Remote Alerts and Monitoring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  <a:latin typeface="Calisto MT" panose="02040603050505030304"/>
              </a:rPr>
              <a:t>Sends real-time alerts to users through </a:t>
            </a:r>
            <a:r>
              <a:rPr lang="en-US" sz="1600" dirty="0" err="1">
                <a:solidFill>
                  <a:srgbClr val="000000"/>
                </a:solidFill>
                <a:latin typeface="Calisto MT" panose="02040603050505030304"/>
              </a:rPr>
              <a:t>IoT</a:t>
            </a:r>
            <a:r>
              <a:rPr lang="en-US" sz="1600" dirty="0">
                <a:solidFill>
                  <a:srgbClr val="000000"/>
                </a:solidFill>
                <a:latin typeface="Calisto MT" panose="02040603050505030304"/>
              </a:rPr>
              <a:t> platform and enables remote safety monitoring anytime, anywhere.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528873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cap="all" spc="30" dirty="0">
                <a:solidFill>
                  <a:srgbClr val="000000"/>
                </a:solidFill>
                <a:latin typeface="Univers Condensed"/>
              </a:rPr>
              <a:t>System Architecture and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dirty="0" smtClean="0"/>
              <a:t>  </a:t>
            </a:r>
            <a:r>
              <a:rPr lang="en-US" sz="1600" b="1" dirty="0"/>
              <a:t>Sensor and Microcontroller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600" dirty="0"/>
              <a:t>MQ-2 sensor captures gas levels and sends data to the ESP32 microcontroller for processing and decision making.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/>
              <a:t>Local Alert Mechanism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600" dirty="0"/>
              <a:t>The ESP32 controls a relay to activate an exhaust fan and buzzer for immediate local gas leak alerts.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/>
              <a:t>Display and Monitoring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600" dirty="0"/>
              <a:t>An OLED display provides real-time gas concentration readings, enhancing local monitoring capabilities.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/>
              <a:t>Remote </a:t>
            </a:r>
            <a:r>
              <a:rPr lang="en-US" sz="1600" b="1" dirty="0" err="1"/>
              <a:t>IoT</a:t>
            </a:r>
            <a:r>
              <a:rPr lang="en-US" sz="1600" b="1" dirty="0"/>
              <a:t> Integration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600" dirty="0"/>
              <a:t>Integration with </a:t>
            </a:r>
            <a:r>
              <a:rPr lang="en-US" sz="1600" dirty="0" err="1"/>
              <a:t>Blynk</a:t>
            </a:r>
            <a:r>
              <a:rPr lang="en-US" sz="1600" dirty="0"/>
              <a:t> </a:t>
            </a:r>
            <a:r>
              <a:rPr lang="en-US" sz="1600" dirty="0" err="1"/>
              <a:t>IoT</a:t>
            </a:r>
            <a:r>
              <a:rPr lang="en-US" sz="1600" dirty="0"/>
              <a:t> platform enables remote monitoring and mobile notifications via cloud dashboards.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32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cap="all" spc="30" dirty="0">
                <a:solidFill>
                  <a:srgbClr val="000000"/>
                </a:solidFill>
                <a:latin typeface="Univers Condensed"/>
              </a:rPr>
              <a:t>Hardware and Software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10000"/>
              </a:lnSpc>
              <a:spcBef>
                <a:spcPts val="2500"/>
              </a:spcBef>
              <a:spcAft>
                <a:spcPts val="0"/>
              </a:spcAft>
              <a:buClrTx/>
              <a:buSzTx/>
              <a:buNone/>
            </a:pPr>
            <a:r>
              <a:rPr lang="en-US" sz="1600" b="1" dirty="0">
                <a:solidFill>
                  <a:srgbClr val="000000"/>
                </a:solidFill>
              </a:rPr>
              <a:t>Core Hardware Components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ESP32 microcontroller, MQ-2 gas sensor, OLED display, relay module, buzzer, exhaust fan, </a:t>
            </a:r>
            <a:endParaRPr lang="en-US" sz="1600" dirty="0" smtClean="0">
              <a:solidFill>
                <a:srgbClr val="000000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 smtClean="0">
                <a:solidFill>
                  <a:srgbClr val="000000"/>
                </a:solidFill>
              </a:rPr>
              <a:t>jumper </a:t>
            </a:r>
            <a:r>
              <a:rPr lang="en-US" sz="1600" dirty="0">
                <a:solidFill>
                  <a:srgbClr val="000000"/>
                </a:solidFill>
              </a:rPr>
              <a:t>wires, and breadboard form the system hardware.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b="1" dirty="0">
                <a:solidFill>
                  <a:srgbClr val="000000"/>
                </a:solidFill>
              </a:rPr>
              <a:t>Software Tools</a:t>
            </a:r>
            <a:endParaRPr lang="en-US" sz="1600" dirty="0">
              <a:solidFill>
                <a:srgbClr val="000000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Visual Studio Code, Wokwi simulator, and </a:t>
            </a:r>
            <a:r>
              <a:rPr lang="en-US" sz="1600" dirty="0" err="1">
                <a:solidFill>
                  <a:srgbClr val="000000"/>
                </a:solidFill>
              </a:rPr>
              <a:t>Blynk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IoT</a:t>
            </a:r>
            <a:r>
              <a:rPr lang="en-US" sz="1600" dirty="0">
                <a:solidFill>
                  <a:srgbClr val="000000"/>
                </a:solidFill>
              </a:rPr>
              <a:t> platform are used for coding, testing, </a:t>
            </a:r>
            <a:endParaRPr lang="en-US" sz="1600" dirty="0" smtClean="0">
              <a:solidFill>
                <a:srgbClr val="000000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 smtClean="0">
                <a:solidFill>
                  <a:srgbClr val="000000"/>
                </a:solidFill>
              </a:rPr>
              <a:t>and </a:t>
            </a:r>
            <a:r>
              <a:rPr lang="en-US" sz="1600" dirty="0">
                <a:solidFill>
                  <a:srgbClr val="000000"/>
                </a:solidFill>
              </a:rPr>
              <a:t>remote monitoring.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b="1" dirty="0">
                <a:solidFill>
                  <a:srgbClr val="000000"/>
                </a:solidFill>
              </a:rPr>
              <a:t>Connectivity and Display Libraries</a:t>
            </a:r>
            <a:endParaRPr lang="en-US" sz="1600" dirty="0">
              <a:solidFill>
                <a:srgbClr val="000000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Libraries like </a:t>
            </a:r>
            <a:r>
              <a:rPr lang="en-US" sz="1600" dirty="0" err="1">
                <a:solidFill>
                  <a:srgbClr val="000000"/>
                </a:solidFill>
              </a:rPr>
              <a:t>WiFi.h</a:t>
            </a:r>
            <a:r>
              <a:rPr lang="en-US" sz="1600" dirty="0">
                <a:solidFill>
                  <a:srgbClr val="000000"/>
                </a:solidFill>
              </a:rPr>
              <a:t>, BlynkSimpleEsp32.h, </a:t>
            </a:r>
            <a:r>
              <a:rPr lang="en-US" sz="1600" dirty="0" err="1">
                <a:solidFill>
                  <a:srgbClr val="000000"/>
                </a:solidFill>
              </a:rPr>
              <a:t>Adafruit_GFX.h</a:t>
            </a:r>
            <a:r>
              <a:rPr lang="en-US" sz="1600" dirty="0">
                <a:solidFill>
                  <a:srgbClr val="000000"/>
                </a:solidFill>
              </a:rPr>
              <a:t>, and </a:t>
            </a:r>
            <a:r>
              <a:rPr lang="en-US" sz="1600" dirty="0" smtClean="0">
                <a:solidFill>
                  <a:srgbClr val="000000"/>
                </a:solidFill>
              </a:rPr>
              <a:t>Adafruit_SSD1306.h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 smtClean="0">
                <a:solidFill>
                  <a:srgbClr val="000000"/>
                </a:solidFill>
              </a:rPr>
              <a:t> </a:t>
            </a:r>
            <a:r>
              <a:rPr lang="en-US" sz="1600" dirty="0">
                <a:solidFill>
                  <a:srgbClr val="000000"/>
                </a:solidFill>
              </a:rPr>
              <a:t>enable device connectivity and display functions.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b="1" dirty="0">
                <a:solidFill>
                  <a:srgbClr val="000000"/>
                </a:solidFill>
              </a:rPr>
              <a:t>System Functionality</a:t>
            </a:r>
            <a:endParaRPr lang="en-US" sz="1600" dirty="0">
              <a:solidFill>
                <a:srgbClr val="000000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The integrated hardware and software detect gas leaks and provide timely alerts for safety purposes.</a:t>
            </a:r>
          </a:p>
          <a:p>
            <a:endParaRPr lang="en-US" dirty="0">
              <a:latin typeface="+mj-lt"/>
            </a:endParaRPr>
          </a:p>
        </p:txBody>
      </p:sp>
      <p:pic>
        <p:nvPicPr>
          <p:cNvPr id="4" name="Content Placeholder 4" descr="Home learning do it yourself electronic parts.">
            <a:extLst>
              <a:ext uri="{FF2B5EF4-FFF2-40B4-BE49-F238E27FC236}">
                <a16:creationId xmlns:a16="http://schemas.microsoft.com/office/drawing/2014/main" id="{04D5475B-DE20-469F-B6F3-6A3E0D0201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12" r="37812"/>
          <a:stretch/>
        </p:blipFill>
        <p:spPr>
          <a:xfrm>
            <a:off x="9725887" y="2011680"/>
            <a:ext cx="2164359" cy="4167051"/>
          </a:xfrm>
          <a:prstGeom prst="rect">
            <a:avLst/>
          </a:prstGeom>
          <a:blipFill>
            <a:blip r:embed="rId3">
              <a:alphaModFix amt="6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98438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cap="all" spc="30" dirty="0">
                <a:solidFill>
                  <a:srgbClr val="000000"/>
                </a:solidFill>
                <a:latin typeface="Univers Condensed"/>
              </a:rPr>
              <a:t>Pin Configuration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435" y="2124470"/>
            <a:ext cx="5958767" cy="362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1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cap="all" spc="30" dirty="0">
                <a:solidFill>
                  <a:srgbClr val="000000"/>
                </a:solidFill>
                <a:latin typeface="Univers Condensed"/>
              </a:rPr>
              <a:t>System 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10000"/>
              </a:lnSpc>
              <a:spcBef>
                <a:spcPts val="2500"/>
              </a:spcBef>
              <a:spcAft>
                <a:spcPts val="0"/>
              </a:spcAft>
              <a:buClrTx/>
              <a:buSzTx/>
              <a:buNone/>
            </a:pPr>
            <a:r>
              <a:rPr lang="en-US" sz="1600" b="1" dirty="0">
                <a:solidFill>
                  <a:srgbClr val="000000"/>
                </a:solidFill>
              </a:rPr>
              <a:t>Gas Detection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MQ-2 sensor continuously monitors gas levels to detect hazardous concentrations promptly.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b="1" dirty="0">
                <a:solidFill>
                  <a:srgbClr val="000000"/>
                </a:solidFill>
              </a:rPr>
              <a:t>Alarm Activation</a:t>
            </a:r>
            <a:endParaRPr lang="en-US" sz="1600" dirty="0">
              <a:solidFill>
                <a:srgbClr val="000000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ESP32 triggers buzzer and exhaust fan via relay when gas concentration exceeds threshold.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b="1" dirty="0">
                <a:solidFill>
                  <a:srgbClr val="000000"/>
                </a:solidFill>
              </a:rPr>
              <a:t>Local Display Monitoring</a:t>
            </a:r>
            <a:endParaRPr lang="en-US" sz="1600" dirty="0">
              <a:solidFill>
                <a:srgbClr val="000000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OLED screen shows real-time gas concentration for immediate local awareness and action.</a:t>
            </a: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b="1" dirty="0">
                <a:solidFill>
                  <a:srgbClr val="000000"/>
                </a:solidFill>
              </a:rPr>
              <a:t>Remote Notification</a:t>
            </a:r>
            <a:endParaRPr lang="en-US" sz="1600" dirty="0">
              <a:solidFill>
                <a:srgbClr val="000000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ESP32 sends gas data to </a:t>
            </a:r>
            <a:r>
              <a:rPr lang="en-US" sz="1600" dirty="0" err="1">
                <a:solidFill>
                  <a:srgbClr val="000000"/>
                </a:solidFill>
              </a:rPr>
              <a:t>IoT</a:t>
            </a:r>
            <a:r>
              <a:rPr lang="en-US" sz="1600" dirty="0">
                <a:solidFill>
                  <a:srgbClr val="000000"/>
                </a:solidFill>
              </a:rPr>
              <a:t> platform enabling remote alerts for enhanced safety.</a:t>
            </a:r>
          </a:p>
          <a:p>
            <a:endParaRPr lang="en-US" dirty="0"/>
          </a:p>
        </p:txBody>
      </p:sp>
      <p:pic>
        <p:nvPicPr>
          <p:cNvPr id="4" name="Content Placeholder 4" descr="Smart home automation mobile phone application internet technology">
            <a:extLst>
              <a:ext uri="{FF2B5EF4-FFF2-40B4-BE49-F238E27FC236}">
                <a16:creationId xmlns:a16="http://schemas.microsoft.com/office/drawing/2014/main" id="{EA9DBE5C-E868-4E03-8348-8B44A02AC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79" r="13279"/>
          <a:stretch/>
        </p:blipFill>
        <p:spPr>
          <a:xfrm>
            <a:off x="9033091" y="3007545"/>
            <a:ext cx="2542791" cy="2596896"/>
          </a:xfrm>
          <a:prstGeom prst="rect">
            <a:avLst/>
          </a:prstGeom>
          <a:blipFill>
            <a:blip r:embed="rId3">
              <a:alphaModFix amt="6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671471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cap="all" spc="30" dirty="0">
                <a:solidFill>
                  <a:srgbClr val="000000"/>
                </a:solidFill>
                <a:latin typeface="Univers Condensed"/>
              </a:rPr>
              <a:t>Advantages of the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Real-Time Monitoring</a:t>
            </a:r>
          </a:p>
          <a:p>
            <a:pPr lvl="0">
              <a:lnSpc>
                <a:spcPct val="100000"/>
              </a:lnSpc>
              <a:defRPr b="1"/>
            </a:pPr>
            <a:r>
              <a:rPr lang="en-US" b="1" dirty="0"/>
              <a:t>Automatic Safety Response</a:t>
            </a:r>
          </a:p>
          <a:p>
            <a:r>
              <a:rPr lang="en-US" b="1" dirty="0"/>
              <a:t>Remote </a:t>
            </a:r>
            <a:r>
              <a:rPr lang="en-US" b="1" dirty="0" err="1"/>
              <a:t>IoT</a:t>
            </a:r>
            <a:r>
              <a:rPr lang="en-US" b="1" dirty="0"/>
              <a:t> Alerts</a:t>
            </a:r>
          </a:p>
          <a:p>
            <a:pPr lvl="0">
              <a:lnSpc>
                <a:spcPct val="100000"/>
              </a:lnSpc>
              <a:defRPr b="1"/>
            </a:pPr>
            <a:r>
              <a:rPr lang="en-US" b="1" dirty="0"/>
              <a:t>Cost-Effective Design</a:t>
            </a:r>
          </a:p>
          <a:p>
            <a:pPr lvl="0">
              <a:lnSpc>
                <a:spcPct val="100000"/>
              </a:lnSpc>
              <a:defRPr b="1"/>
            </a:pPr>
            <a:r>
              <a:rPr lang="en-US" b="1" dirty="0"/>
              <a:t>Easy Scalability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990" y="2094660"/>
            <a:ext cx="4048690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33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242940"/>
          </a:xfrm>
        </p:spPr>
        <p:txBody>
          <a:bodyPr>
            <a:normAutofit lnSpcReduction="10000"/>
          </a:bodyPr>
          <a:lstStyle/>
          <a:p>
            <a:r>
              <a:rPr lang="en-US" sz="7200" dirty="0" smtClean="0"/>
              <a:t>                  </a:t>
            </a:r>
          </a:p>
          <a:p>
            <a:r>
              <a:rPr lang="en-US" sz="7200" dirty="0"/>
              <a:t> </a:t>
            </a:r>
            <a:r>
              <a:rPr lang="en-US" sz="7200" dirty="0" smtClean="0"/>
              <a:t>                Code 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702729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MQ-2 Gas Sensor Code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// Gas </a:t>
            </a:r>
            <a:r>
              <a:rPr lang="en-US" dirty="0" smtClean="0"/>
              <a:t>threshold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gasThreshold</a:t>
            </a:r>
            <a:r>
              <a:rPr lang="en-US" dirty="0" smtClean="0"/>
              <a:t> </a:t>
            </a:r>
            <a:r>
              <a:rPr lang="en-US" dirty="0"/>
              <a:t>= 3500</a:t>
            </a:r>
            <a:r>
              <a:rPr lang="en-US" dirty="0" smtClean="0"/>
              <a:t>;</a:t>
            </a:r>
          </a:p>
          <a:p>
            <a:endParaRPr lang="en-US" dirty="0"/>
          </a:p>
          <a:p>
            <a:r>
              <a:rPr lang="en-US" dirty="0" smtClean="0"/>
              <a:t>#</a:t>
            </a:r>
            <a:r>
              <a:rPr lang="en-US" dirty="0"/>
              <a:t>define MQ2_PIN 34        // MQ-2 connected to ESP32 analog pin</a:t>
            </a:r>
          </a:p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gasValue</a:t>
            </a:r>
            <a:r>
              <a:rPr lang="en-US" dirty="0"/>
              <a:t> = </a:t>
            </a:r>
            <a:r>
              <a:rPr lang="en-US" dirty="0" err="1"/>
              <a:t>analogRead</a:t>
            </a:r>
            <a:r>
              <a:rPr lang="en-US" dirty="0"/>
              <a:t>(MQ2_PIN</a:t>
            </a:r>
            <a:r>
              <a:rPr lang="en-US" dirty="0" smtClean="0"/>
              <a:t>);</a:t>
            </a:r>
          </a:p>
          <a:p>
            <a:r>
              <a:rPr lang="en-US" b="1" dirty="0"/>
              <a:t>Gas Alert Event (</a:t>
            </a:r>
            <a:r>
              <a:rPr lang="en-US" b="1" dirty="0" err="1"/>
              <a:t>Blynk</a:t>
            </a:r>
            <a:r>
              <a:rPr lang="en-US" b="1" dirty="0"/>
              <a:t> Notification</a:t>
            </a:r>
            <a:r>
              <a:rPr lang="en-US" b="1" dirty="0" smtClean="0"/>
              <a:t>)</a:t>
            </a:r>
          </a:p>
          <a:p>
            <a:r>
              <a:rPr lang="en-US" dirty="0" err="1"/>
              <a:t>Blynk.logEvent</a:t>
            </a:r>
            <a:r>
              <a:rPr lang="en-US" dirty="0"/>
              <a:t>("</a:t>
            </a:r>
            <a:r>
              <a:rPr lang="en-US" dirty="0" err="1"/>
              <a:t>gas_alert</a:t>
            </a:r>
            <a:r>
              <a:rPr lang="en-US" dirty="0"/>
              <a:t>", "Gas Leakage Detected!");</a:t>
            </a:r>
          </a:p>
          <a:p>
            <a:endParaRPr lang="en-US" b="1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3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Blynk</a:t>
            </a:r>
            <a:r>
              <a:rPr lang="en-US" b="1" dirty="0"/>
              <a:t> Connection </a:t>
            </a:r>
            <a:r>
              <a:rPr lang="en-US" b="1" dirty="0" smtClean="0"/>
              <a:t>and </a:t>
            </a:r>
            <a:r>
              <a:rPr lang="en-US" b="1" dirty="0"/>
              <a:t>Gas Value Sending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1860"/>
            <a:ext cx="10058400" cy="402336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#define BLYNK_TEMPLATE_ID "TMPL6hLRYw2Ua"</a:t>
            </a:r>
          </a:p>
          <a:p>
            <a:r>
              <a:rPr lang="en-US" dirty="0"/>
              <a:t>#define BLYNK_TEMPLATE_NAME "Gas Leakage Detector"</a:t>
            </a:r>
          </a:p>
          <a:p>
            <a:r>
              <a:rPr lang="en-US" dirty="0"/>
              <a:t>#define BLYNK_AUTH_TOKEN "MdNO8UfAYqei6qXmg957RwnDt7DepVNT"</a:t>
            </a:r>
          </a:p>
          <a:p>
            <a:endParaRPr lang="en-US" dirty="0"/>
          </a:p>
          <a:p>
            <a:r>
              <a:rPr lang="en-US" dirty="0"/>
              <a:t>#include &lt;</a:t>
            </a:r>
            <a:r>
              <a:rPr lang="en-US" dirty="0" err="1"/>
              <a:t>WiFi.h</a:t>
            </a:r>
            <a:r>
              <a:rPr lang="en-US" dirty="0"/>
              <a:t>&gt;</a:t>
            </a:r>
          </a:p>
          <a:p>
            <a:r>
              <a:rPr lang="en-US" dirty="0"/>
              <a:t>#include &lt;BlynkSimpleEsp32.h&gt;</a:t>
            </a:r>
          </a:p>
          <a:p>
            <a:endParaRPr lang="en-US" dirty="0"/>
          </a:p>
          <a:p>
            <a:r>
              <a:rPr lang="en-US" dirty="0"/>
              <a:t>char </a:t>
            </a:r>
            <a:r>
              <a:rPr lang="en-US" dirty="0" err="1"/>
              <a:t>ssid</a:t>
            </a:r>
            <a:r>
              <a:rPr lang="en-US" dirty="0"/>
              <a:t>[] = "</a:t>
            </a:r>
            <a:r>
              <a:rPr lang="en-US" dirty="0" err="1"/>
              <a:t>Infinix</a:t>
            </a:r>
            <a:r>
              <a:rPr lang="en-US" dirty="0"/>
              <a:t>";</a:t>
            </a:r>
          </a:p>
          <a:p>
            <a:r>
              <a:rPr lang="en-US" dirty="0"/>
              <a:t>char pass[] = "ayesha246";</a:t>
            </a:r>
          </a:p>
          <a:p>
            <a:endParaRPr lang="en-US" dirty="0"/>
          </a:p>
          <a:p>
            <a:r>
              <a:rPr lang="en-US" dirty="0" err="1"/>
              <a:t>Blynk.begin</a:t>
            </a:r>
            <a:r>
              <a:rPr lang="en-US" dirty="0"/>
              <a:t>(BLYNK_AUTH_TOKEN, </a:t>
            </a:r>
            <a:r>
              <a:rPr lang="en-US" dirty="0" err="1"/>
              <a:t>ssid</a:t>
            </a:r>
            <a:r>
              <a:rPr lang="en-US" dirty="0"/>
              <a:t>, pass);</a:t>
            </a:r>
          </a:p>
          <a:p>
            <a:r>
              <a:rPr lang="en-US" dirty="0" err="1"/>
              <a:t>Blynk.virtualWrite</a:t>
            </a:r>
            <a:r>
              <a:rPr lang="en-US" dirty="0"/>
              <a:t>(V1, </a:t>
            </a:r>
            <a:r>
              <a:rPr lang="en-US" dirty="0" err="1"/>
              <a:t>gasValue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244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292443"/>
            <a:ext cx="10058400" cy="83680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OLED </a:t>
            </a:r>
            <a:r>
              <a:rPr lang="en-US" b="1" dirty="0"/>
              <a:t>Display Code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0237"/>
            <a:ext cx="10058400" cy="402336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Adafruit_GFX.h</a:t>
            </a:r>
            <a:r>
              <a:rPr lang="en-US" dirty="0"/>
              <a:t>&gt;</a:t>
            </a:r>
          </a:p>
          <a:p>
            <a:r>
              <a:rPr lang="en-US" dirty="0"/>
              <a:t>#include &lt;Adafruit_SSD1306.h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#</a:t>
            </a:r>
            <a:r>
              <a:rPr lang="en-US" dirty="0"/>
              <a:t>define WIDTH 128</a:t>
            </a:r>
          </a:p>
          <a:p>
            <a:r>
              <a:rPr lang="en-US" dirty="0"/>
              <a:t>#define HEIGHT 64</a:t>
            </a:r>
          </a:p>
          <a:p>
            <a:r>
              <a:rPr lang="en-US" dirty="0"/>
              <a:t>#define OLED_ADDR </a:t>
            </a:r>
            <a:r>
              <a:rPr lang="en-US" dirty="0" smtClean="0"/>
              <a:t>0x3C</a:t>
            </a:r>
          </a:p>
          <a:p>
            <a:r>
              <a:rPr lang="en-US" dirty="0" smtClean="0"/>
              <a:t>Adafruit_SSD1306 </a:t>
            </a:r>
            <a:r>
              <a:rPr lang="en-US" dirty="0"/>
              <a:t>display(WIDTH, HEIGHT, &amp;Wire, -1</a:t>
            </a:r>
            <a:r>
              <a:rPr lang="en-US" dirty="0" smtClean="0"/>
              <a:t>);</a:t>
            </a:r>
          </a:p>
          <a:p>
            <a:r>
              <a:rPr lang="en-US" dirty="0" err="1" smtClean="0"/>
              <a:t>display.clearDisplay</a:t>
            </a:r>
            <a:r>
              <a:rPr lang="en-US" dirty="0"/>
              <a:t>();</a:t>
            </a:r>
          </a:p>
          <a:p>
            <a:r>
              <a:rPr lang="en-US" dirty="0" err="1"/>
              <a:t>display.setCursor</a:t>
            </a:r>
            <a:r>
              <a:rPr lang="en-US" dirty="0"/>
              <a:t>(0,0);</a:t>
            </a:r>
          </a:p>
          <a:p>
            <a:r>
              <a:rPr lang="en-US" dirty="0" err="1"/>
              <a:t>display.println</a:t>
            </a:r>
            <a:r>
              <a:rPr lang="en-US" dirty="0"/>
              <a:t>("Gas Leakage System");</a:t>
            </a:r>
          </a:p>
          <a:p>
            <a:r>
              <a:rPr lang="en-US" dirty="0" err="1"/>
              <a:t>display.print</a:t>
            </a:r>
            <a:r>
              <a:rPr lang="en-US" dirty="0"/>
              <a:t>("Gas: ");</a:t>
            </a:r>
          </a:p>
          <a:p>
            <a:r>
              <a:rPr lang="en-US" dirty="0" err="1"/>
              <a:t>display.println</a:t>
            </a:r>
            <a:r>
              <a:rPr lang="en-US" dirty="0"/>
              <a:t>(</a:t>
            </a:r>
            <a:r>
              <a:rPr lang="en-US" dirty="0" err="1"/>
              <a:t>gasValue</a:t>
            </a:r>
            <a:r>
              <a:rPr lang="en-US" dirty="0"/>
              <a:t>);</a:t>
            </a:r>
          </a:p>
          <a:p>
            <a:r>
              <a:rPr lang="en-US" dirty="0" err="1"/>
              <a:t>display.display</a:t>
            </a:r>
            <a:r>
              <a:rPr lang="en-US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989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Relay &amp; Fan Control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#define RELAY_PIN 26     // Relay connected pin</a:t>
            </a:r>
          </a:p>
          <a:p>
            <a:endParaRPr lang="en-US" dirty="0"/>
          </a:p>
          <a:p>
            <a:r>
              <a:rPr lang="en-US" dirty="0" err="1"/>
              <a:t>pinMode</a:t>
            </a:r>
            <a:r>
              <a:rPr lang="en-US" dirty="0"/>
              <a:t>(RELAY_PIN, OUTPUT);</a:t>
            </a:r>
          </a:p>
          <a:p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gasValue</a:t>
            </a:r>
            <a:r>
              <a:rPr lang="en-US" dirty="0"/>
              <a:t> &gt; </a:t>
            </a:r>
            <a:r>
              <a:rPr lang="en-US" dirty="0" err="1"/>
              <a:t>gasThreshold</a:t>
            </a:r>
            <a:r>
              <a:rPr lang="en-US" dirty="0"/>
              <a:t>) {</a:t>
            </a:r>
          </a:p>
          <a:p>
            <a:r>
              <a:rPr lang="en-US" dirty="0"/>
              <a:t>  digitalWrite(RELAY_PIN, LOW);   // Fan ON</a:t>
            </a:r>
          </a:p>
          <a:p>
            <a:r>
              <a:rPr lang="en-US" dirty="0"/>
              <a:t>} else {</a:t>
            </a:r>
          </a:p>
          <a:p>
            <a:r>
              <a:rPr lang="en-US" dirty="0"/>
              <a:t>  digitalWrite(RELAY_PIN, HIGH);  // Fan OFF</a:t>
            </a:r>
          </a:p>
          <a:p>
            <a:r>
              <a:rPr lang="en-US" dirty="0"/>
              <a:t>}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978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Buzzer Alarm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#define BUZZER_PIN 27</a:t>
            </a:r>
          </a:p>
          <a:p>
            <a:endParaRPr lang="en-US" dirty="0"/>
          </a:p>
          <a:p>
            <a:r>
              <a:rPr lang="en-US" dirty="0" err="1"/>
              <a:t>pinMode</a:t>
            </a:r>
            <a:r>
              <a:rPr lang="en-US" dirty="0"/>
              <a:t>(BUZZER_PIN, OUTPUT);</a:t>
            </a:r>
          </a:p>
          <a:p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gasValue</a:t>
            </a:r>
            <a:r>
              <a:rPr lang="en-US" dirty="0"/>
              <a:t> &gt; </a:t>
            </a:r>
            <a:r>
              <a:rPr lang="en-US" dirty="0" err="1"/>
              <a:t>gasThreshold</a:t>
            </a:r>
            <a:r>
              <a:rPr lang="en-US" dirty="0"/>
              <a:t>) {</a:t>
            </a:r>
          </a:p>
          <a:p>
            <a:r>
              <a:rPr lang="en-US" dirty="0"/>
              <a:t>  digitalWrite(BUZZER_PIN, HIGH);   // Buzzer ON</a:t>
            </a:r>
          </a:p>
          <a:p>
            <a:r>
              <a:rPr lang="en-US" dirty="0"/>
              <a:t>} else {</a:t>
            </a:r>
          </a:p>
          <a:p>
            <a:r>
              <a:rPr lang="en-US" dirty="0"/>
              <a:t>  digitalWrite(BUZZER_PIN, LOW);    // Buzzer OFF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68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cap="all" spc="30" dirty="0">
                <a:solidFill>
                  <a:srgbClr val="000000"/>
                </a:solidFill>
                <a:latin typeface="Univers Condensed"/>
              </a:rPr>
              <a:t>Conclusion and Future Enhancements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/>
              <a:t>Current System Success</a:t>
            </a:r>
          </a:p>
          <a:p>
            <a:pPr marL="0" lvl="1"/>
            <a:r>
              <a:rPr lang="en-US" sz="1600" dirty="0"/>
              <a:t>The system reliably detects gas leaks using ESP32 and </a:t>
            </a:r>
            <a:r>
              <a:rPr lang="en-US" sz="1600" dirty="0" err="1"/>
              <a:t>IoT</a:t>
            </a:r>
            <a:r>
              <a:rPr lang="en-US" sz="1600" dirty="0"/>
              <a:t>, </a:t>
            </a:r>
            <a:endParaRPr lang="en-US" sz="1600" dirty="0" smtClean="0"/>
          </a:p>
          <a:p>
            <a:pPr marL="0" lvl="1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enabling </a:t>
            </a:r>
            <a:r>
              <a:rPr lang="en-US" sz="1600" dirty="0"/>
              <a:t>quick local and remote alerts for improved safety.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600" b="1" dirty="0"/>
              <a:t>GSM Alert Integration</a:t>
            </a:r>
            <a:endParaRPr lang="en-US" sz="1600" dirty="0"/>
          </a:p>
          <a:p>
            <a:pPr marL="0" lvl="1"/>
            <a:r>
              <a:rPr lang="en-US" sz="1600" dirty="0"/>
              <a:t>Future enhancement includes SMS and call alerts using GSM </a:t>
            </a:r>
            <a:endParaRPr lang="en-US" sz="1600" dirty="0" smtClean="0"/>
          </a:p>
          <a:p>
            <a:pPr marL="0" lvl="1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modules </a:t>
            </a:r>
            <a:r>
              <a:rPr lang="en-US" sz="1600" dirty="0"/>
              <a:t>for connectivity in areas without internet access.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600" b="1" dirty="0"/>
              <a:t>Data Logging and Analysis</a:t>
            </a:r>
            <a:endParaRPr lang="en-US" sz="1600" dirty="0"/>
          </a:p>
          <a:p>
            <a:pPr marL="0" lvl="1"/>
            <a:r>
              <a:rPr lang="en-US" sz="1600" dirty="0"/>
              <a:t>Implementing cloud-based data logging and graphical analysis </a:t>
            </a:r>
            <a:endParaRPr lang="en-US" sz="1600" dirty="0" smtClean="0"/>
          </a:p>
          <a:p>
            <a:pPr marL="0" lvl="1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will </a:t>
            </a:r>
            <a:r>
              <a:rPr lang="en-US" sz="1600" dirty="0"/>
              <a:t>provide better monitoring and insights.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76" y="2334698"/>
            <a:ext cx="3029373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218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50</TotalTime>
  <Words>971</Words>
  <Application>Microsoft Office PowerPoint</Application>
  <PresentationFormat>Widescreen</PresentationFormat>
  <Paragraphs>135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Calisto MT</vt:lpstr>
      <vt:lpstr>Univers Condensed</vt:lpstr>
      <vt:lpstr>Retrospect</vt:lpstr>
      <vt:lpstr>Gas Leakage Detection                 System </vt:lpstr>
      <vt:lpstr>Project Overview </vt:lpstr>
      <vt:lpstr>Introduction to Gas Leakage Detection</vt:lpstr>
      <vt:lpstr>Objectives of the Project</vt:lpstr>
      <vt:lpstr>System Architecture and Flow</vt:lpstr>
      <vt:lpstr>Hardware and Software Components</vt:lpstr>
      <vt:lpstr>Pin Configuration</vt:lpstr>
      <vt:lpstr>System Working</vt:lpstr>
      <vt:lpstr>Advantages of the System</vt:lpstr>
      <vt:lpstr>PowerPoint Presentation</vt:lpstr>
      <vt:lpstr>MQ-2 Gas Sensor Code</vt:lpstr>
      <vt:lpstr>Blynk Connection and Gas Value Sending</vt:lpstr>
      <vt:lpstr> OLED Display Code </vt:lpstr>
      <vt:lpstr>Relay &amp; Fan Control Code</vt:lpstr>
      <vt:lpstr>Buzzer Alarm Code</vt:lpstr>
      <vt:lpstr>Conclusion and 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Leakage Detection</dc:title>
  <dc:creator>Hassan Laptop Point</dc:creator>
  <cp:lastModifiedBy>Hassan Laptop Point</cp:lastModifiedBy>
  <cp:revision>6</cp:revision>
  <dcterms:created xsi:type="dcterms:W3CDTF">2026-01-05T14:08:28Z</dcterms:created>
  <dcterms:modified xsi:type="dcterms:W3CDTF">2026-01-05T14:59:24Z</dcterms:modified>
</cp:coreProperties>
</file>